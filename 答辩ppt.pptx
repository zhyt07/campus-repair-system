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53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9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是数字媒体技术2班的黎智涵，我的毕业设计题目是“校园宿舍智能报修与服务评价系统”。今天我将从项目背景、需求分析、系统设计、功能演示、系统测试以及总结与展望六个方面，向各位老师汇报我的设计成果。请各位老师批评指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围绕以下六个部分展开。首先，我会介绍项目的背景与意义，阐述我们为什么要做这个系统。接着是需求分析，明确系统要做什么。然后是系统设计，讲解我们是如何实现的。之后是核心功能的演示，展示系统的实际效果。最后是系统测试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项目背景。目前校园宿舍报修普遍存在流程繁琐、响应慢、进度不透明和缺乏评价机制这四大痛点。这不仅影响了学生的生活体验，也给后勤管理带来了很大挑战。因此，我们的项目旨在解决这些问题，通过构建一个智能化的服务系统，实现报修流程的闭环管理，提升服务效率和透明度，并为后勤管理提供数据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需求分析阶段，我们明确了系统需要满足学生、维修人员和管理员三类用户的需求。对于学生，核心是方便地报修和查询进度；对于维修人员，核心是高效地处理工单；对于管理员，核心是全面地管理和分析。同时，我们也对系统的性能、易用性、可靠性和可扩展性提出了明确的非功能性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接下来是系统设计部分。我们采用了经典的前后端分离三层架构。表现层，我们使用uni-app开发小程序，Vue3和Element Plus开发管理后台。业务逻辑层，核心是Spring Boot框架，并使用MyBatis-Plus简化数据库操作。数据层则采用MySQL作为主数据库，并引入Redis作为缓存，提升系统性能。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功能模块上，我们围绕三大用户角色设计了清晰的模块划分。数据库设计方面，我们设计了工单、维修人员和评价记录三大核心表，并定义了严谨的工单状态流转机，从待派单到已评价，确保了业务流程的规范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系统的一大亮点是智能派单算法。我们设计了一个四维度的评分模型，综合考虑技能匹配、区域匹配、负载均衡和历史评价，总分最高的维修人员会自动获得工单。如果得分过低，系统会转为人工派单，确保工单不会被遗漏。这个算法有效提升了派单效率和公平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现在进入功能演示部分。首先是学生端小程序。我们设计的报修申请页力求简洁，方便学生快速提交。报修详情页通过时间轴让进度一目了然。服务评价页则提供了多种反馈方式，便于收集有效数据。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管理后台是系统的核心控制中心。仪表盘让管理员对运营状况一目了然。工单管理页提供了强大的操作功能，支持智能和手动派单。统计分析页则通过丰富的图表和数据导出功能，为管理决策提供了有力支持。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为了保证系统质量，我们进行了全面的测试。测试覆盖了功能、界面和业务流程等多个方面。共设计了19个核心测试用例，全部通过，测试通过率达到100%。这表明系统功能完整、流程通畅、运行稳定。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最后是总结与展望。通过这个项目，我完整地实践了软件工程的全流程，成功构建了三端应用，并交付了完备的文档和代码。个人在架构设计、全栈开发和算法实践方面都取得了显著的进步。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的亮点主要体现在智能派单、进度可视化、全流程闭环和数据可视化四个方面。当然，由于时间和能力的限制，系统还有优化空间。未来可以引入更实时的消息推送，优化派单算法，并扩展服务范围到校园的更多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我的汇报到此结束。感谢各位评委老师的聆听，恳请各位老师批评指正。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18.svg"/><Relationship Id="rId16" Type="http://schemas.openxmlformats.org/officeDocument/2006/relationships/image" Target="../media/image17.png"/><Relationship Id="rId15" Type="http://schemas.openxmlformats.org/officeDocument/2006/relationships/image" Target="../media/image16.svg"/><Relationship Id="rId14" Type="http://schemas.openxmlformats.org/officeDocument/2006/relationships/image" Target="../media/image15.png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image" Target="../media/image12.jpeg"/><Relationship Id="rId10" Type="http://schemas.openxmlformats.org/officeDocument/2006/relationships/image" Target="../media/image11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32.svg"/><Relationship Id="rId14" Type="http://schemas.openxmlformats.org/officeDocument/2006/relationships/image" Target="../media/image31.png"/><Relationship Id="rId13" Type="http://schemas.openxmlformats.org/officeDocument/2006/relationships/image" Target="../media/image30.svg"/><Relationship Id="rId12" Type="http://schemas.openxmlformats.org/officeDocument/2006/relationships/image" Target="../media/image29.png"/><Relationship Id="rId11" Type="http://schemas.openxmlformats.org/officeDocument/2006/relationships/image" Target="../media/image28.svg"/><Relationship Id="rId10" Type="http://schemas.openxmlformats.org/officeDocument/2006/relationships/image" Target="../media/image27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svg"/><Relationship Id="rId8" Type="http://schemas.openxmlformats.org/officeDocument/2006/relationships/image" Target="../media/image39.png"/><Relationship Id="rId7" Type="http://schemas.openxmlformats.org/officeDocument/2006/relationships/image" Target="../media/image38.svg"/><Relationship Id="rId6" Type="http://schemas.openxmlformats.org/officeDocument/2006/relationships/image" Target="../media/image37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svg"/><Relationship Id="rId8" Type="http://schemas.openxmlformats.org/officeDocument/2006/relationships/image" Target="../media/image47.png"/><Relationship Id="rId7" Type="http://schemas.openxmlformats.org/officeDocument/2006/relationships/image" Target="../media/image46.svg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8.svg"/><Relationship Id="rId7" Type="http://schemas.openxmlformats.org/officeDocument/2006/relationships/image" Target="../media/image47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svg"/><Relationship Id="rId8" Type="http://schemas.openxmlformats.org/officeDocument/2006/relationships/image" Target="../media/image60.png"/><Relationship Id="rId7" Type="http://schemas.openxmlformats.org/officeDocument/2006/relationships/image" Target="../media/image59.svg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7.svg"/><Relationship Id="rId6" Type="http://schemas.openxmlformats.org/officeDocument/2006/relationships/image" Target="../media/image66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svg"/><Relationship Id="rId8" Type="http://schemas.openxmlformats.org/officeDocument/2006/relationships/image" Target="../media/image72.png"/><Relationship Id="rId7" Type="http://schemas.openxmlformats.org/officeDocument/2006/relationships/image" Target="../media/image71.svg"/><Relationship Id="rId6" Type="http://schemas.openxmlformats.org/officeDocument/2006/relationships/image" Target="../media/image70.png"/><Relationship Id="rId5" Type="http://schemas.openxmlformats.org/officeDocument/2006/relationships/image" Target="../media/image69.svg"/><Relationship Id="rId4" Type="http://schemas.openxmlformats.org/officeDocument/2006/relationships/image" Target="../media/image68.png"/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77.svg"/><Relationship Id="rId12" Type="http://schemas.openxmlformats.org/officeDocument/2006/relationships/image" Target="../media/image76.png"/><Relationship Id="rId11" Type="http://schemas.openxmlformats.org/officeDocument/2006/relationships/image" Target="../media/image75.svg"/><Relationship Id="rId10" Type="http://schemas.openxmlformats.org/officeDocument/2006/relationships/image" Target="../media/image74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svg"/><Relationship Id="rId8" Type="http://schemas.openxmlformats.org/officeDocument/2006/relationships/image" Target="../media/image80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7" Type="http://schemas.openxmlformats.org/officeDocument/2006/relationships/notesSlide" Target="../notesSlides/notesSlide12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87.svg"/><Relationship Id="rId14" Type="http://schemas.openxmlformats.org/officeDocument/2006/relationships/image" Target="../media/image86.png"/><Relationship Id="rId13" Type="http://schemas.openxmlformats.org/officeDocument/2006/relationships/image" Target="../media/image85.svg"/><Relationship Id="rId12" Type="http://schemas.openxmlformats.org/officeDocument/2006/relationships/image" Target="../media/image84.png"/><Relationship Id="rId11" Type="http://schemas.openxmlformats.org/officeDocument/2006/relationships/image" Target="../media/image83.svg"/><Relationship Id="rId10" Type="http://schemas.openxmlformats.org/officeDocument/2006/relationships/image" Target="../media/image82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90.svg"/><Relationship Id="rId4" Type="http://schemas.openxmlformats.org/officeDocument/2006/relationships/image" Target="../media/image89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image" Target="../media/image8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校园宿舍智能报修与服务评价系统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317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软件工程课程设计答辩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572000"/>
            <a:ext cx="10160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7" name="Connector 7"/>
          <p:cNvCxnSpPr/>
          <p:nvPr/>
        </p:nvCxnSpPr>
        <p:spPr>
          <a:xfrm rot="5361804">
            <a:off x="5524500" y="53276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270000" y="4762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答辩人：黎智涵     学　号：2408090602026</a:t>
            </a:r>
            <a:b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班　级：数字媒体技术2班    指导教师：钟云飞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4889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湖南工业大学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133600"/>
            <a:ext cx="762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42709">
            <a:off x="1651000" y="2597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2286000" y="2133600"/>
            <a:ext cx="3429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项目背景与意义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剖析项目研发的行业背景与社会价值，阐述系统建设的初衷与核心目标。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556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3657600"/>
            <a:ext cx="762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42709">
            <a:off x="1651000" y="4121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2286000" y="3657600"/>
            <a:ext cx="3429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深入调研用户核心诉求，拆解业务流程，明确系统功能边界与非功能性指标。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080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181600"/>
            <a:ext cx="762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42709">
            <a:off x="1651000" y="5645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2286000" y="5181600"/>
            <a:ext cx="3429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系统设计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从架构设计到数据库建模，展示系统的整体技术方案与核心模块的实现逻辑。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350000" y="2032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0" y="2032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04000" y="2133600"/>
            <a:ext cx="762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42709">
            <a:off x="7239000" y="2597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7874000" y="2133600"/>
            <a:ext cx="3429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核心功能演示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直观展示系统的关键操作流程与核心功能界面，呈现系统的实际交互体验。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50000" y="3556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350000" y="3556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04000" y="3657600"/>
            <a:ext cx="762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342709">
            <a:off x="7239000" y="4121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7874000" y="3657600"/>
            <a:ext cx="3429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系统测试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通过功能测试、性能测试与兼容性测试，验证系统的稳定性、可靠性与安全性。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350000" y="508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350000" y="5080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604000" y="5181600"/>
            <a:ext cx="762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5342709">
            <a:off x="7239000" y="5645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7874000" y="5181600"/>
            <a:ext cx="3429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总结项目成果与不足，规划未来的迭代方向与功能拓展，展望系统的应用前景。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项目背景与意义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传统报修模式的困境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384">
            <a:off x="762008" y="2279650"/>
            <a:ext cx="520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667000"/>
            <a:ext cx="2476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2794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768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流程繁琐效率低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302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依赖电话或宿管登记，信息传递链条长且易出错，导致报修流程冗长，学生等待时间成本高。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29000" y="2667000"/>
            <a:ext cx="2476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000" y="2794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937000" y="2768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调度落后响应缓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556000" y="3302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人工派单分配不均，缺乏智能调度，导致维修资源闲置与紧缺并存，平均响应时间超2小时。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572000"/>
            <a:ext cx="2476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000" y="4699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270000" y="4673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服务过程不透明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9000" y="5207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学生无法获知任务实时状态，只能被动焦虑等待，维修进度、人员位置等关键信息缺失。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429000" y="4572000"/>
            <a:ext cx="2476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56000" y="4699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3937000" y="4673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评价缺失质量弱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556000" y="5207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无有效反馈机制，服务质量难以量化考核，问题处理结果缺乏监督，难以持续优化服务水平。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90177">
            <a:off x="4000500" y="4121159"/>
            <a:ext cx="444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77000" y="177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构建智能化服务新生态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8814">
            <a:off x="6477008" y="2279650"/>
            <a:ext cx="495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Picture 25"/>
          <p:cNvPicPr>
            <a:picLocks noChangeAspect="1"/>
          </p:cNvPicPr>
          <p:nvPr/>
        </p:nvPicPr>
        <p:blipFill>
          <a:blip r:embed="rId10"/>
          <a:srcRect t="7204" b="7204"/>
          <a:stretch>
            <a:fillRect/>
          </a:stretch>
        </p:blipFill>
        <p:spPr>
          <a:xfrm>
            <a:off x="6477000" y="2667000"/>
            <a:ext cx="2476500" cy="1587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1"/>
          <a:srcRect t="1923" b="1923"/>
          <a:stretch>
            <a:fillRect/>
          </a:stretch>
        </p:blipFill>
        <p:spPr>
          <a:xfrm>
            <a:off x="9080500" y="2667000"/>
            <a:ext cx="2476500" cy="1587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6477000" y="4572000"/>
            <a:ext cx="16002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46990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604000" y="5143500"/>
            <a:ext cx="1346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全流程闭环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打通报修、派单、维修、验收至评价的完整链路，提升服务流转效率。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8280400" y="4572000"/>
            <a:ext cx="16002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07400" y="46990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8407400" y="5143500"/>
            <a:ext cx="1346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服务全透明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实时展示任务进度与维修轨迹，可视化时间轴让学生随时掌握状态，减少焦虑。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9956800" y="4572000"/>
            <a:ext cx="16002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83800" y="46990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10083800" y="5143500"/>
            <a:ext cx="1346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数据资产化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沉淀报修与服务数据，通过分析优化资源配置，为后勤管理决策提供科学支撑。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需求分析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0066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学生用户 (小程序端)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794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支持报修提交、进度实时查询、服务评价反馈、消息通知提醒及历史报修记录查看，满足学生日常报修全流程需求。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032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20066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维修人员 (小程序端)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5720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2794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提供工单大厅查看、接单操作、完工拍照上报及历史工单回溯功能，帮助维修人员高效处理日常报修任务。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778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032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36000" y="20066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 (Web管理后台)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91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2794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涵盖系统仪表盘、工单全生命周期管理、智能派单、人员与权限管理、数据统计分析及公告发布等核心管理功能。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445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635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460500" y="46355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性能高效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221">
            <a:off x="952519" y="5200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52500" y="5334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系统响应迅速，核心页面加载时间控制在2秒以内，保障流畅的操作体验。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467100" y="4445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57600" y="4635500"/>
            <a:ext cx="355600" cy="355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4165600" y="46355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操作易用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20221">
            <a:off x="3657619" y="5200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3657600" y="5334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界面设计简洁直观，交互逻辑清晰，降低不同用户群体的学习成本与操作门槛。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172200" y="4445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2700" y="4635500"/>
            <a:ext cx="355600" cy="3556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6870700" y="46355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稳定可靠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-20221">
            <a:off x="6362719" y="5200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6362700" y="5334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支持7x24小时不间断稳定运行，完善的数据备份机制，确保系统数据安全无丢失。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877300" y="4445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67800" y="4635500"/>
            <a:ext cx="355600" cy="3556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9575800" y="46355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架构可扩展</a:t>
            </a:r>
            <a:endParaRPr lang="en-US" sz="1100"/>
          </a:p>
        </p:txBody>
      </p:sp>
      <p:cxnSp>
        <p:nvCxnSpPr>
          <p:cNvPr id="40" name="Connector 40"/>
          <p:cNvCxnSpPr/>
          <p:nvPr/>
        </p:nvCxnSpPr>
        <p:spPr>
          <a:xfrm rot="-20221">
            <a:off x="9067819" y="5200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AutoShape 41"/>
          <p:cNvSpPr/>
          <p:nvPr/>
        </p:nvSpPr>
        <p:spPr>
          <a:xfrm>
            <a:off x="9067800" y="5334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采用模块化、松耦合的技术架构，预留标准接口，便于未来功能迭代与业务场景扩展。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系统设计 - 技术架构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本系统采用业界主流的</a:t>
            </a: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前后端分离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架构，通过分层设计实现了表现层、业务逻辑层和数据层的解耦，有效提升了系统的可维护性、扩展性与开发效率。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l="6675" r="6675"/>
          <a:stretch>
            <a:fillRect/>
          </a:stretch>
        </p:blipFill>
        <p:spPr>
          <a:xfrm>
            <a:off x="1016000" y="3048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2159000" y="31115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表现层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Presentation Layer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431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4572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多端适配：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uni-app 开发微信小程序，覆盖学生端与维修端场景；Web管理后台基于 Vue 3 + Element Plus 构建，交互流畅，响应迅速。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794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 l="27971" r="27971"/>
          <a:stretch>
            <a:fillRect/>
          </a:stretch>
        </p:blipFill>
        <p:spPr>
          <a:xfrm>
            <a:off x="4635500" y="3048000"/>
            <a:ext cx="1524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350000" y="3111500"/>
            <a:ext cx="133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Logic Layer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431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4572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核心驱动：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 Spring Boot 2.7 为核心框架，简化配置并集成 MyBatis-Plus 作为持久层方案，高效封装业务逻辑，保障系统稳定与安全。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794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 t="1105" b="1105"/>
          <a:stretch>
            <a:fillRect/>
          </a:stretch>
        </p:blipFill>
        <p:spPr>
          <a:xfrm>
            <a:off x="8191500" y="3048000"/>
            <a:ext cx="952500" cy="95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rcRect l="12500" r="12500"/>
          <a:stretch>
            <a:fillRect/>
          </a:stretch>
        </p:blipFill>
        <p:spPr>
          <a:xfrm>
            <a:off x="9398000" y="3048000"/>
            <a:ext cx="952500" cy="95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10477500" y="311150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 Layer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431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4572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双库支撑：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MySQL 8.0 存储核心业务数据，结合 Redis 6.0 作为高性能缓存数据库，显著降低数据库压力，提升高频数据的读取速度。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系统设计 - 功能模块与数据库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2032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215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学生端小程序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291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28194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核心模块包含报修服务与个人中心，为学生提供便捷的故障申报入口，支持实时查看工单进度与历史记录。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19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36195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810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87500" y="3746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维修端小程序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1016009" y="4311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1016000" y="44069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聚焦工单处理与个人中心模块，帮助维修人员高效接收派单、更新维修状态，并管理个人服务数据与信息。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207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207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397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587500" y="5334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 管理后台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291">
            <a:off x="1016009" y="5899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1016000" y="59436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集成工单、人员、统计分析及系统管理四大核心模块，实现全平台数据的统一管控与业务流程的高效调度。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90316">
            <a:off x="4095750" y="4279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604000" y="203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核心数据模型设计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0" y="2667000"/>
            <a:ext cx="15494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667500" y="2794000"/>
            <a:ext cx="1422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报修工单表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repair_order：存储工单基础信息、故障描述、位置及当前状态，是系统核心业务表。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255000" y="2667000"/>
            <a:ext cx="15494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318500" y="2794000"/>
            <a:ext cx="1422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维修人员表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repairer：记录维修人员基本信息、所属区域、技能标签及服务统计数据。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9880600" y="2667000"/>
            <a:ext cx="15494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944100" y="2794000"/>
            <a:ext cx="1422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评价记录表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evaluation：关联工单与用户，存储服务评分、评价内容，用于服务质量监控。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604000" y="444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工单全生命周期状态流转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604000" y="5207000"/>
            <a:ext cx="889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667500" y="5334000"/>
            <a:ext cx="76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待派单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PENDING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31100" y="5524500"/>
            <a:ext cx="203200" cy="2032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772400" y="5207000"/>
            <a:ext cx="889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7835900" y="5334000"/>
            <a:ext cx="76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已派单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DISPATCHED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99500" y="5524500"/>
            <a:ext cx="203200" cy="2032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8940800" y="5207000"/>
            <a:ext cx="889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9004300" y="5334000"/>
            <a:ext cx="76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处理中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IN_PROGRESS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67900" y="5524500"/>
            <a:ext cx="203200" cy="2032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10096500" y="5207000"/>
            <a:ext cx="1333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10160000" y="5334000"/>
            <a:ext cx="1206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完成/已评价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COMPLETED → EVALUATED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系统设计 - 核心算法：智能派单模型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为实现工单的高效、智能分配，我们设计了基于多维度评分的智能派单算法，通过量化评估维修人员的核心能力与当前状态，兼顾技术适配性与服务公平性，实现工单分配的最优化匹配。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66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921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073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0226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技能匹配</a:t>
            </a: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(40分)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046">
            <a:off x="1016008" y="35242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3657600"/>
            <a:ext cx="4762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完全匹配得40分，相关匹配得20分，以技术能力为核心筛选维度，确保维修人员的专业技能与工单故障类型高度契合。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59500" y="2921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159500" y="292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3073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58000" y="30226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区域匹配</a:t>
            </a: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(30分)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046">
            <a:off x="6413508" y="35242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13500" y="3657600"/>
            <a:ext cx="4762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负责区域得30分，跨区服务得20分。优先分配属地工单，有效减少路途往返耗时，显著提升服务响应速度与效率。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699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469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514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460500" y="48006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负载均衡</a:t>
            </a: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(20分)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046">
            <a:off x="1016008" y="53022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1016000" y="5435600"/>
            <a:ext cx="4762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根据当前待处理工单数量动态评分，待处理工单越少，得分越高。科学平衡人员工作负荷，避免出现忙闲不均的情况。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159500" y="4699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159500" y="469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48514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858000" y="48006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历史评价</a:t>
            </a: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(10分)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9046">
            <a:off x="6413508" y="53022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413500" y="5435600"/>
            <a:ext cx="4762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按“历史平均服务评分 × 2”公式计算得分。将服务质量纳入考核，激励人员持续提升服务水平，保障整体服务口碑。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核心功能演示 - 学生端小程序</a:t>
            </a:r>
            <a:endParaRPr lang="en-US" sz="1100"/>
          </a:p>
        </p:txBody>
      </p:sp>
      <p:pic>
        <p:nvPicPr>
          <p:cNvPr id="4" name="Picture 4" descr="E:/软件工程大作业/cfff07eab905c034b3af506761fa37b.pngcfff07eab905c034b3af506761fa37b"/>
          <p:cNvPicPr>
            <a:picLocks noChangeAspect="1"/>
          </p:cNvPicPr>
          <p:nvPr/>
        </p:nvPicPr>
        <p:blipFill>
          <a:blip r:embed="rId2"/>
          <a:srcRect t="11198" b="11198"/>
          <a:stretch>
            <a:fillRect/>
          </a:stretch>
        </p:blipFill>
        <p:spPr>
          <a:xfrm>
            <a:off x="762000" y="2032000"/>
            <a:ext cx="3048000" cy="4064000"/>
          </a:xfrm>
          <a:prstGeom prst="rect">
            <a:avLst/>
          </a:prstGeom>
          <a:noFill/>
          <a:ln w="254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5389257">
            <a:off x="2540000" y="4057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826000" y="2032000"/>
            <a:ext cx="6731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826000" y="2032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000" y="22225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715000" y="2159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极简报修申请，流程高效直达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715000" y="2667000"/>
            <a:ext cx="571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采用极简交互设计，引导用户快速完成报修流程。支持故障类型选择、精准位置填写、问题描述输入及现场照片一键上传，降低操作门槛。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826000" y="3556000"/>
            <a:ext cx="6731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826000" y="3556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0000" y="3746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715000" y="3683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工单状态透明，进度全程可视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715000" y="4191000"/>
            <a:ext cx="571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以进度时间轴形式直观展示工单当前处理环节，实时同步接单、派单、维修、完结等关键节点信息，让学生随时掌握报修动态，减少等待焦虑。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826000" y="5080000"/>
            <a:ext cx="6731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826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80000" y="5270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715000" y="5207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多维服务评价，沉淀有效数据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715000" y="5651500"/>
            <a:ext cx="571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提供星级评分、标签选择与文字评价的组合反馈方式，方便学生快速表达服务体验，同时为平台收集服务质量数据，助力后续服务优化升级。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核心功能演示 - 管理后台</a:t>
            </a:r>
            <a:endParaRPr lang="en-US" sz="1100"/>
          </a:p>
        </p:txBody>
      </p:sp>
      <p:pic>
        <p:nvPicPr>
          <p:cNvPr id="4" name="Picture 4" descr="E:/软件工程大作业/d54b8acb76e5f7112e3d15ffc1c10dc.pngd54b8acb76e5f7112e3d15ffc1c10dc"/>
          <p:cNvPicPr>
            <a:picLocks noChangeAspect="1"/>
          </p:cNvPicPr>
          <p:nvPr/>
        </p:nvPicPr>
        <p:blipFill>
          <a:blip r:embed="rId2"/>
          <a:srcRect t="18896" b="18896"/>
          <a:stretch>
            <a:fillRect/>
          </a:stretch>
        </p:blipFill>
        <p:spPr>
          <a:xfrm>
            <a:off x="762000" y="1778000"/>
            <a:ext cx="5207000" cy="2286000"/>
          </a:xfrm>
          <a:prstGeom prst="rect">
            <a:avLst/>
          </a:prstGeom>
          <a:noFill/>
          <a:ln w="254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</p:pic>
      <p:pic>
        <p:nvPicPr>
          <p:cNvPr id="5" name="Picture 5" descr="E:/软件工程大作业/07a4ef33f8daa396446b53708346bc1.png07a4ef33f8daa396446b53708346bc1"/>
          <p:cNvPicPr>
            <a:picLocks noChangeAspect="1"/>
          </p:cNvPicPr>
          <p:nvPr/>
        </p:nvPicPr>
        <p:blipFill>
          <a:blip r:embed="rId3"/>
          <a:srcRect t="18561" b="18561"/>
          <a:stretch>
            <a:fillRect/>
          </a:stretch>
        </p:blipFill>
        <p:spPr>
          <a:xfrm>
            <a:off x="6223000" y="1778000"/>
            <a:ext cx="5207000" cy="2286000"/>
          </a:xfrm>
          <a:prstGeom prst="rect">
            <a:avLst/>
          </a:prstGeom>
          <a:noFill/>
          <a:ln w="254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445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635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4597400"/>
            <a:ext cx="247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仪表盘 (Dashboard)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323">
            <a:off x="952513" y="520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5334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宏观掌控运营全貌，以数据驱动决策。核心KPI指标实时刷新，结合ECharts图表直观呈现趋势，让状态一目了然。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4445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463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4597400"/>
            <a:ext cx="247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高效工单管理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572013" y="520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5334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支持多维度精准筛选，提供智能派单与手动干预双重模式。灵活处理改派、催办等场景，大幅提升工单流转效率。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4445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4635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63000" y="4597400"/>
            <a:ext cx="247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深度统计分析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323">
            <a:off x="8191513" y="520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191500" y="5334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提供多维度专业统计图表，深度挖掘数据价值。支持一键导出Excel报表，为管理层的战略规划和业务复盘提供依据。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系统测试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06600"/>
            <a:ext cx="425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功能测试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确保系统每个功能点严格遵循需求规格说明书设计，逐项验证功能实现的完整性与准确性，保障核心功能无遗漏、无逻辑偏差。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365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3655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92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467100"/>
            <a:ext cx="425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界面测试 (UI/UX)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全面检查页面布局合理性、视觉风格统一性、交互逻辑流畅度及操作易用性，确保用户界面符合现代审美，为用户提供舒适的操作体验。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4826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953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927600"/>
            <a:ext cx="425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业务流程测试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模拟真实业务场景执行端到端全流程测试，覆盖学生报修、派单、维修、评价的完整闭环，验证系统在实际业务流转中的连贯性与稳定性。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89422">
            <a:off x="4222750" y="396241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77000" y="1905000"/>
            <a:ext cx="2476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04000" y="2032000"/>
            <a:ext cx="222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2730500"/>
            <a:ext cx="222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核心测试用例总数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144000" y="1905000"/>
            <a:ext cx="2476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271000" y="2032000"/>
            <a:ext cx="222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71000" y="2730500"/>
            <a:ext cx="222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实际通过用例数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3556000"/>
            <a:ext cx="2476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604000" y="3683000"/>
            <a:ext cx="222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0" y="4381500"/>
            <a:ext cx="222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发现失败/阻塞用例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144000" y="3556000"/>
            <a:ext cx="2476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271000" y="3683000"/>
            <a:ext cx="222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271000" y="4381500"/>
            <a:ext cx="222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核心场景测试通过率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5207000"/>
            <a:ext cx="5143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604000" y="53340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核心测试场景全部通过，涵盖学生报修、管理员工单分配、维修工接单完工及服务评价全闭环流程，系统功能完备、运行稳定可靠。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 总结与展望 - 项目成果与技术收获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032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2133600"/>
            <a:ext cx="425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完整的软件开发流程实践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167">
            <a:off x="10160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2768600"/>
            <a:ext cx="4762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完整覆盖需求分析、方案设计、编码实现及系统测试的全生命周期，标准化执行各阶段产出物评审，确保项目规范落地。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19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36195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746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87500" y="3721100"/>
            <a:ext cx="425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多端应用的成功构建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167">
            <a:off x="1016008" y="4248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1016000" y="4356100"/>
            <a:ext cx="4762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独立完成Web管理端、移动端App及微信小程序的三端应用开发与部署，实现业务逻辑统一与用户体验的高度一致性。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143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1435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270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587500" y="5245100"/>
            <a:ext cx="425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完备的文档与代码交付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167">
            <a:off x="1016008" y="5772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1016000" y="58420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沉淀产出7份核心软件工程文档，交付结构清晰、注释规范的完整代码库，为后续维护与迭代奠定坚实基础。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90177">
            <a:off x="4000500" y="4248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477000" y="2032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2032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31000" y="21590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302500" y="2133600"/>
            <a:ext cx="425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架构设计能力进阶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9167">
            <a:off x="67310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731000" y="2768600"/>
            <a:ext cx="4762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深入理解并实践前后端分离架构，合理拆解微服务模块，优化数据交互逻辑，显著提升了系统的可扩展性与解耦程度。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3619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477000" y="36195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31000" y="3746500"/>
            <a:ext cx="406400" cy="406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302500" y="3721100"/>
            <a:ext cx="425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全栈开发技能体系化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9167">
            <a:off x="6731008" y="4248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6731000" y="4356100"/>
            <a:ext cx="4762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熟练掌握Vue 3、uni-app跨端框架及Spring Boot后端技术栈，打通前端交互与后端逻辑，具备独立完成全链路开发的能力。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477000" y="5143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477000" y="51435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31000" y="5270500"/>
            <a:ext cx="406400" cy="4064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7302500" y="5245100"/>
            <a:ext cx="425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核心算法的设计与落地</a:t>
            </a:r>
            <a:endParaRPr lang="en-US" sz="1100"/>
          </a:p>
        </p:txBody>
      </p:sp>
      <p:cxnSp>
        <p:nvCxnSpPr>
          <p:cNvPr id="40" name="Connector 40"/>
          <p:cNvCxnSpPr/>
          <p:nvPr/>
        </p:nvCxnSpPr>
        <p:spPr>
          <a:xfrm rot="-9167">
            <a:off x="6731008" y="5772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1" name="AutoShape 41"/>
          <p:cNvSpPr/>
          <p:nvPr/>
        </p:nvSpPr>
        <p:spPr>
          <a:xfrm>
            <a:off x="6731000" y="58420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自主设计并实现智能派单算法，结合业务场景优化策略，有效提升业务流转效率，成功将算法理论转化为实际业务价值。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 总结与展望 - 项目亮点与未来展望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▍项目亮点回顾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0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6924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智能派单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9644">
            <a:off x="952518" y="3232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365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基于多维度评分模型，综合考量人员技能与工单属性，实现任务的科学、高效分配。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56000" y="2540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0" y="2730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91000" y="26924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进度可视化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9644">
            <a:off x="3746518" y="3232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746500" y="3365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通过直观的时间轴组件展示工单全生命周期，让用户清晰掌握进度，显著提升服务体验。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572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762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47244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全流程闭环管理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9644">
            <a:off x="952518" y="5264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952500" y="5397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规范从工单创建到完结的每一个步骤，实现业务流程自动化流转，减少人工干预成本。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556000" y="4572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46500" y="4762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191000" y="47244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数据可视化决策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9644">
            <a:off x="3746518" y="5264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3746500" y="5397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集成ECharts图表展示关键业务数据，为管理人员的运营分析和策略调整提供坚实支撑。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89889">
            <a:off x="4445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858000" y="1778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▍未来发展展望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858000" y="2540000"/>
            <a:ext cx="4572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48500" y="2730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620000" y="26670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引入实时消息推送机制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048500" y="32385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打通短信、APP等多端渠道，实现工单状态变更的即时提醒，让相关人员第一时间掌握动态。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858000" y="3937000"/>
            <a:ext cx="4572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48500" y="4127500"/>
            <a:ext cx="406400" cy="406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620000" y="40640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深化机器学习的派单算法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048500" y="45720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基于历史工单数据训练模型，引入机器学习算法，实现工单难度预测与人员匹配的精准化。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858000" y="5270500"/>
            <a:ext cx="4572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48500" y="5397500"/>
            <a:ext cx="406400" cy="4064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620000" y="53340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拓展至校园全场景服务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7048500" y="57785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从单一业务场景延伸至图书馆、实验室、宿舍等校园公共设施管理，构建一体化服务体系。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感谢聆听，敬请老师批评指正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381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572000"/>
            <a:ext cx="1016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4826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4762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答辩人：黎智涵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　号：2408090602026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50892">
            <a:off x="4381500" y="5264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0" y="4826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588000" y="49276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数字媒体技术2班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50892">
            <a:off x="7429500" y="5264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8000" y="4826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509000" y="4762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 项目仓库：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github.com/zhyt07/Campus-Repair-System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3769</Words>
  <Application>WPS 演示</Application>
  <PresentationFormat/>
  <Paragraphs>306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黎智涵</cp:lastModifiedBy>
  <cp:revision>1</cp:revision>
  <dcterms:created xsi:type="dcterms:W3CDTF">2026-06-25T01:06:21Z</dcterms:created>
  <dcterms:modified xsi:type="dcterms:W3CDTF">2026-06-25T01:06:21Z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{"Label":"1","ContentProducer":"001191110102MACQD9K64010000","ProduceID":"7655132066401078457","ReservedCode1":"","ContentPropagator":"","PropagateID":"","ReservedCode2":""}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F21F6F81CD084596A0C7AD88EDEF795D_12</vt:lpwstr>
  </property>
</Properties>
</file>